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Bluestock Fintech: Mutual Fund Analytics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Enterprise ETL, Star Schema Warehouse, Machine Learning &amp; Executive BI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End-to-End Financial Analytics Platform built for AMFI/SEBI Mutual Fund Data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Automated Python ETL Pipeline with Star Schema SQLite Warehouse (10.18 MB)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Strict Financial Turnover Reconciliation: INR 3,521,580,430 across 32,778 transactions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Unsupervised Machine Learning: K-Means (k=3) Behavioral Investor Segmentation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Dual Presentation Layer: Interactive Streamlit UI and Executive Power BI Desktop (.pbix)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Executive Summary &amp; Business Objectives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Institutional Problem Statement &amp; Strategic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Operational Inefficiencies: Fragmented transaction ledgers, NAV histories, and performance metrics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Analytics Mandate: Ingest 10 operational feeds across 40 schemes, 46,000 NAV days, and 5,000 investors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Core Deliverables: Clean ETL pipelines (D1), Normalized Star Schema (D2), BI Queries (D3)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Advanced Analytics: EDA Notebooks (D4), ML Segmentation (D5), Power BI Desktop (D6)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Production Capabilities: Flask REST API, Streamlit Glassmorphism Portal, and Automated Risk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Data Engineering &amp; Pipeline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High-Throughput Ingestion, Cleaning &amp; Transformation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Raw Ingestion Tier: Ingests 10 disparate CSV feeds with type enforcement and integrity checks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Cleaning &amp; Transformation: Forward-fills NAV holiday gaps, computes daily returns and rolling metrics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Relational Loading: Bulk-loads data into SQLite using SQLAlchemy connection pooling and transactions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Performance Indexes: 7 dedicated indexes on primary/foreign keys and date ranges for sub-millisecond queries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CSV Exporter: Automatically syncs data warehouse state to data/processed for BI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Relational Data Warehouse: Star Schema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Dimensional Modeling Optimized for Analytical Querying (OLAP)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dim_fund (Dimension): 40 schemes, AMFI codes, fund managers, expense ratios, benchmarks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fact_transactions (Fact): 32,778 records capturing SIP, Lumpsum, and Redemption flows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fact_nav (Fact): 46,000 daily closing NAV records with calculated daily return percentages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fact_performance (Fact): 40 scheme summary metrics including 1Y/3Y/5Y returns, Alpha, Beta, Sharpe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clustered_investors (Dimension): 5,000 reconciled profiles mapped to behavioral clusters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Financial Audit &amp; Turnover Reconciliation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Zero-Tolerance Mathematical Verification Across Transaction Ledgers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Total Gross Volume Reconciled: Exactly INR 3,521,580,430 (INR 3.52 Billion / 352.16 Cr)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SIP Volume: 16,364 transactions totaling INR 1,142,392,150 (32.4% gross turnover)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Lumpsum Volume: 11,465 transactions totaling INR 1,139,188,280 (32.3% gross turnover)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Redemption Outflows: 4,949 transactions totaling INR 1,240,000,000 (35.2% gross turnover)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Referential Integrity: Zero orphaned foreign keys; 100% amfi_code and investor_id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Behavioral Investor Segmentation (Unsupervised ML)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K-Means Clustering Pipeline with Standardized Multi-Feature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Engineered Feature Vectors: Total Invested Capital, Total Transaction Count, Annual Income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Preprocessing: StandardScaler normalization preventing high-magnitude capital dominance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Optimal Clusters (k=3): Silhouette score of 0.393 validating distinct investor behavioral cohorts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Cluster 0 (Mass Retail): Moderate ticket sizes, disciplined recurring SIP contributions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Cluster 1 (High Net Worth): High capital volume, aggressive allocation, high annual income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Cluster 2 (Occasional / Low Activity): Low transaction frequency, opportunistic lumpsum entries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Quantitative Scheme Risk &amp; Return Analytics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Comprehensive Assessment of Volatility, Drawdowns &amp; Alpha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Performance Leaders: Top equity funds delivering &gt;20% 3-year annualized returns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Risk-Adjusted Ratios: Evaluated Sharpe ratios (&gt;1.2) and Sortino ratios for downside risk mitigation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Systematic Risk (Beta): Categorized across defensive (&lt;0.85), market (0.85-1.15), and aggressive (&gt;1.15)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Drawdown Mitigation: Stress-tested maximum drawdown across market correction cycles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Benchmark Comparison: Positive Jensen Alpha observed across actively managed large &amp; flexi cap funds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Executive Power BI Dashboard (bluestock_mf.pbix)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4-Page Dynamic Business Intelligence Report with Single-Direction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Page 1: Executive Overview - High-level AUM cards, gross turnover KPIs, and category distribution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Page 2: Fund Performance Analysis - Scatter plot of risk vs return, Sharpe ratio matrix, 3Y returns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Page 3: Investor Demographics &amp; Transactions - City tiers, age brackets, payment channels, KYC status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Page 4: Investor Clustering &amp; Personas - K-Means cluster profiles, average ticket sizes, income correlations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Interactive Cross-Filtering: Star schema model enabling seamless multi-dimensional slicers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Serving Layer: Production Flask API &amp; Streamlit Portal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High-Concurrency REST API &amp; Glassmorphism Interactive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Flask REST API (scripts/app.py): Microservice with CORS, connection pooling, and LRU memory caching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Endpoints: /api/health (heartbeat), /api/top-funds (ranked schemes), /api/investor-stats (inflows)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Streamlit UI (dashboard/dashboard.py): Dark Glassmorphism interface with custom CSS styling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Real-Time Interactivity: Dynamic fund comparison, return simulations, and transaction trend explorers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AI Assistant Integration: Optional Google Gemini integration for conversational portfolio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D3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Strategic Recommendations &amp; Future Roadmap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Actionable FinTech Growth Levers &amp; Enterprise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Targeted Campaign Optimization: Tailor SIP retention campaigns to Cluster 0; offer wealth advisory to Cluster 1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Automated Rebalancing: Trigger algorithmic portfolio alerts when scheme beta diverges from investor risk grade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Real-Time AMFI Stream: Transition from batch CSV processing to automated daily AMFI NAV API ingestion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Scalability Roadmap: Migrate SQLite warehouse to PostgreSQL / BigQuery for petabyte-scale analytics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 Regulatory Readiness: Maintain comprehensive audit ledgers compliant with SEBI mutual fund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